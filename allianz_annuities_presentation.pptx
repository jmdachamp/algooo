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486400" cy="6858000"/>
          </a:xfrm>
          <a:prstGeom prst="rect">
            <a:avLst/>
          </a:prstGeom>
          <a:solidFill>
            <a:srgbClr val="00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ALLIANZ ANNUITIES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9ED9"/>
                </a:solidFill>
                <a:latin typeface="Calibri"/>
              </a:rPr>
              <a:t>Securing Your Financial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Comprehensive Solutions for Retirement 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ED9"/>
                </a:solidFill>
                <a:latin typeface="Calibri"/>
              </a:rPr>
              <a:t>Allianz Life Insurance Company of North America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Is an Annuity?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733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A contract between you and an insurance company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6771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You make a lump-sum payment or series of payments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6207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In return, the insurer provides regular disbursements beginning either immediately or at some point in the future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5643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8327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Designed to provide a steady income stream — especially during retirement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50791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7763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Offers tax-deferred growth on earnings until withdrawals begin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Allianz Life Insurance Company of North America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Why Allianz?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ED9"/>
                </a:solidFill>
                <a:latin typeface="Calibri"/>
              </a:rPr>
              <a:t>A Global Leader in Financial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733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Founded in 1890 — over 130 years of financial strength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6771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One of the world's largest financial services companies (Fortune Global 500)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6207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Consistently rated A+ (Superior) by A.M. Best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5643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8327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Over $700 billion in assets under management globally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50791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7763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#1 seller of fixed index annuities in the United States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451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572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Serving more than 85 million retail and corporate customers worldwide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Allianz Life Insurance Company of North America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Types of Allianz Annuities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3749039" cy="475488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Fixed Annuities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Guaranteed interest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Predictable, stable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566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Protected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4160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Ideal for conservative investors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508760"/>
            <a:ext cx="3749039" cy="4754880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600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Fixed Index Annuities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Linked to market index (e.g. S&amp;P 500)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Upside potential with downside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566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No direct market investment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160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Allianz's flagship product 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508760"/>
            <a:ext cx="3749039" cy="475488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00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Variable Annuities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Invest in sub-accounts (mutual fund-like)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Higher growth potential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566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Subject to market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160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Optional riders for protection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Allianz Life Insurance Company of North America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Fixed Index Annuities (FIA) — A Closer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ED9"/>
                </a:solidFill>
                <a:latin typeface="Calibri"/>
              </a:rPr>
              <a:t>Allianz's Most Popular Product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733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Growth tied to a market index without direct market participation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6771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Floor protection: your principal is never reduced by index losses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6207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Participation rates, caps, and spreads determine credited interest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5643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8327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Tax-deferred accumulation — no annual 1099 on gains until withdrawal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50791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7763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Optional income riders provide guaranteed lifetime withdrawal benefits (GLWB)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451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572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Available with single premium or flexible premium payment options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Allianz Life Insurance Company of North America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Flagship Allianz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ED9"/>
                </a:solidFill>
                <a:latin typeface="Calibri"/>
              </a:rPr>
              <a:t>Designed for Every Stage of Retirement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733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Allianz 222 Annuity — Enhanced benefit base doubling for income &amp; death benefits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6771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Allianz 360 Annuity — Multiple index options with strong accumulation potential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6207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Allianz Benefit Control Annuity — Flexible income and accumulation balance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5643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8327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Allianz Core Income 7 Annuity — Guaranteed income with a 7-year surrender period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50791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7763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Allianz Vision Variable Annuity — Broad investment choices with optional protection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Allianz Life Insurance Company of North America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Income Riders — Lifetime Income You Can't Outlive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733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Guaranteed Lifetime Withdrawal Benefit (GLWB) ensures income regardless of account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6771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Income base grows at a guaranteed rollup rate (e.g., 7–8% annually during deferral)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6207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Withdrawals can begin as early as age 50 or deferred for higher payouts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5643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8327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Spousal continuation option protects surviving partner's income stream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50791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7763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Remaining account value passes to beneficiaries upon death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451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72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Riders available for an additional annual fee (typically 0.95%–1.15%)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Allianz Life Insurance Company of North America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Tax Advantages of Annuities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733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Tax-deferred growth: earnings compound without annual taxation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6771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No contribution limits — unlike IRAs or 401(k)s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6207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Qualified annuities (IRA/403(b)) funded with pre-tax dollars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5643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8327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Non-qualified annuities funded with after-tax dollars; only gains taxed on withdrawal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50791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7763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1035 Exchange: transfer existing annuity or life insurance policy tax-free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451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72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Estate planning benefit: annuities pass directly to beneficiaries, often avoiding probate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Allianz Life Insurance Company of North America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Who Should Consider an Allianz Annuity?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733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Individuals within 5–15 years of retirement seeking to protect savings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6771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Retirees who want guaranteed income to cover essential expenses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6207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Investors concerned about outliving their assets (longevity risk)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5643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8327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Those looking to supplement Social Security or pension income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50791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7763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Conservative savers who want market-linked growth with principal protection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451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72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High-income earners seeking additional tax-deferred savings vehicles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Allianz Life Insurance Company of North America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Risks &amp; Considerations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733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Surrender charges apply if funds are withdrawn early (typically 5–10 years)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6771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10% IRS penalty on withdrawals before age 59½ (qualified accounts)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6207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Caps and participation rates may limit upside during strong bull markets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5643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8327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Rider fees reduce overall accumulation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50791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7763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Annuities are long-term products — not suitable for short-term savings needs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45152"/>
            <a:ext cx="109728" cy="109728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72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All guarantees backed by the financial strength of Allianz Life Insurance Co.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Allianz Life Insurance Company of North America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The Allianz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2011680"/>
          </a:xfrm>
          <a:prstGeom prst="rect">
            <a:avLst/>
          </a:prstGeom>
          <a:solidFill>
            <a:srgbClr val="00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9ED9"/>
                </a:solidFill>
                <a:latin typeface="Calibri"/>
              </a:rPr>
              <a:t>130+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Years in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645920"/>
            <a:ext cx="2560320" cy="2011680"/>
          </a:xfrm>
          <a:prstGeom prst="rect">
            <a:avLst/>
          </a:prstGeom>
          <a:solidFill>
            <a:srgbClr val="00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7830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9ED9"/>
                </a:solidFill>
                <a:latin typeface="Calibri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FIA Provider in the U.S.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2560320" cy="2011680"/>
          </a:xfrm>
          <a:prstGeom prst="rect">
            <a:avLst/>
          </a:prstGeom>
          <a:solidFill>
            <a:srgbClr val="00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7830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9ED9"/>
                </a:solidFill>
                <a:latin typeface="Calibri"/>
              </a:rPr>
              <a:t>A+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A.M. Best Rating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645920"/>
            <a:ext cx="2560320" cy="2011680"/>
          </a:xfrm>
          <a:prstGeom prst="rect">
            <a:avLst/>
          </a:prstGeom>
          <a:solidFill>
            <a:srgbClr val="00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7830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9ED9"/>
                </a:solidFill>
                <a:latin typeface="Calibri"/>
              </a:rPr>
              <a:t>$700B+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Assets Under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Partner with confidence. Retire with certainty.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9ED9"/>
                </a:solidFill>
                <a:latin typeface="Calibri"/>
              </a:rPr>
              <a:t>Contact your Allianz-licensed financial professional to learn more.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Important Disclosures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04040"/>
                </a:solidFill>
                <a:latin typeface="Calibri"/>
              </a:rPr>
              <a:t>Annuities are long-term financial products designed for retirement purposes. Withdrawals prior to age 59½ may be subject to a 10% federal tax penalty in addition to ordinary income tax. Surrender charges may apply. Guarantees are backed solely by the financial strength and claims-paying ability of Allianz Life Insurance Company of North America. Product guarantees do not apply to the performance of variable sub-accounts.
Fixed index annuities are not a direct investment in the stock market. They are long-term insurance products with guarantees backed by the issuing company. Index-linked interest is subject to caps, participation rates, and/or spreads.
This presentation is for informational purposes only and does not constitute an offer to sell or a solicitation to buy any security or insurance product. Please read the product prospectus or brochure carefully before investing. Not FDIC insured. Not a bank deposit. May lose value. Not insured by any federal government agency. Not guaranteed by any bank or savings association.
Allianz Life Insurance Company of North America  |  5701 Golden Hills Drive, Minneapolis, MN 55416-1297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